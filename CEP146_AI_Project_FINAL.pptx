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28016" cy="4297680"/>
          </a:xfrm>
          <a:prstGeom prst="rect">
            <a:avLst/>
          </a:prstGeom>
          <a:solidFill>
            <a:srgbClr val="36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234440"/>
            <a:ext cx="98755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8274B"/>
                </a:solidFill>
              </a:defRPr>
            </a:pPr>
            <a:r>
              <a:rPr dirty="0"/>
              <a:t>Jobs AI May Replace,</a:t>
            </a:r>
            <a:br>
              <a:rPr dirty="0"/>
            </a:br>
            <a:r>
              <a:rPr dirty="0"/>
              <a:t>New Careers Created by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794760"/>
            <a:ext cx="510479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F6673"/>
                </a:solidFill>
              </a:defRPr>
            </a:pPr>
            <a:r>
              <a:rPr dirty="0"/>
              <a:t>Presented by Haowen Peng </a:t>
            </a:r>
            <a:r>
              <a:rPr lang="en-CA" dirty="0"/>
              <a:t>&amp; Aayush Sherchan</a:t>
            </a:r>
            <a:endParaRPr dirty="0"/>
          </a:p>
          <a:p>
            <a:pPr>
              <a:defRPr sz="1600">
                <a:solidFill>
                  <a:srgbClr val="3669DC"/>
                </a:solidFill>
              </a:defRPr>
            </a:pPr>
            <a:r>
              <a:rPr dirty="0"/>
              <a:t>Artificial Intelligence and the Future of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10528"/>
            <a:ext cx="10881360" cy="27432"/>
          </a:xfrm>
          <a:prstGeom prst="rect">
            <a:avLst/>
          </a:prstGeom>
          <a:solidFill>
            <a:srgbClr val="E5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673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How AI Is Changing the Workplace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AI can now perform repetitive, predictable and data-heavy tasks.</a:t>
            </a:r>
          </a:p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Instead of replacing every occupation, AI often automates specific tasks inside a job.</a:t>
            </a:r>
          </a:p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Workers whose jobs depend heavily on routine digital work may face the biggest changes.</a:t>
            </a:r>
          </a:p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Human judgment, creativity, communication and responsibility remain important.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532120"/>
            <a:ext cx="10469880" cy="640080"/>
          </a:xfrm>
          <a:prstGeom prst="roundRect">
            <a:avLst/>
          </a:prstGeom>
          <a:solidFill>
            <a:srgbClr val="E5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5650992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74B"/>
                </a:solidFill>
              </a:defRPr>
            </a:pPr>
            <a:r>
              <a:rPr dirty="0"/>
              <a:t>AI is changing tasks first — and jobs second.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27432"/>
          </a:xfrm>
          <a:prstGeom prst="rect">
            <a:avLst/>
          </a:prstGeom>
          <a:solidFill>
            <a:srgbClr val="E5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67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Jobs Most Likely to Be Replaced by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3262D"/>
                </a:solidFill>
              </a:defRPr>
            </a:pPr>
            <a:r>
              <a:t>• Data-entry and basic clerical roles</a:t>
            </a:r>
          </a:p>
          <a:p>
            <a:pPr>
              <a:spcAft>
                <a:spcPts val="1500"/>
              </a:spcAft>
              <a:defRPr sz="2000">
                <a:solidFill>
                  <a:srgbClr val="23262D"/>
                </a:solidFill>
              </a:defRPr>
            </a:pPr>
            <a:r>
              <a:t>• Telemarketing and scripted customer-service work</a:t>
            </a:r>
          </a:p>
          <a:p>
            <a:pPr>
              <a:spcAft>
                <a:spcPts val="1500"/>
              </a:spcAft>
              <a:defRPr sz="2000">
                <a:solidFill>
                  <a:srgbClr val="23262D"/>
                </a:solidFill>
              </a:defRPr>
            </a:pPr>
            <a:r>
              <a:t>• Cashier and ticketing tasks</a:t>
            </a:r>
          </a:p>
          <a:p>
            <a:pPr>
              <a:spcAft>
                <a:spcPts val="1500"/>
              </a:spcAft>
              <a:defRPr sz="2000">
                <a:solidFill>
                  <a:srgbClr val="23262D"/>
                </a:solidFill>
              </a:defRPr>
            </a:pPr>
            <a:r>
              <a:t>• Basic bookkeeping and payroll processing</a:t>
            </a:r>
          </a:p>
          <a:p>
            <a:pPr>
              <a:spcAft>
                <a:spcPts val="1500"/>
              </a:spcAft>
              <a:defRPr sz="2000">
                <a:solidFill>
                  <a:srgbClr val="23262D"/>
                </a:solidFill>
              </a:defRPr>
            </a:pPr>
            <a:r>
              <a:t>• Routine content writing, transcription and translation tasks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532120"/>
            <a:ext cx="10469880" cy="640080"/>
          </a:xfrm>
          <a:prstGeom prst="roundRect">
            <a:avLst/>
          </a:prstGeom>
          <a:solidFill>
            <a:srgbClr val="E5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5650992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74B"/>
                </a:solidFill>
              </a:defRPr>
            </a:pPr>
            <a:r>
              <a:t>Jobs with repetitive rules and predictable inputs are easier to automate.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27432"/>
          </a:xfrm>
          <a:prstGeom prst="rect">
            <a:avLst/>
          </a:prstGeom>
          <a:solidFill>
            <a:srgbClr val="E5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67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Why These Jobs Are at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Repetitive tasks can be learned and performed consistently by software.</a:t>
            </a:r>
          </a:p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AI systems can process large amounts of text, numbers and customer requests quickly.</a:t>
            </a:r>
          </a:p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Automation can operate continuously and reduce the cost of routine work.</a:t>
            </a:r>
          </a:p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Digital jobs are easier to automate because the information is already on a computer.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532120"/>
            <a:ext cx="10469880" cy="640080"/>
          </a:xfrm>
          <a:prstGeom prst="roundRect">
            <a:avLst/>
          </a:prstGeom>
          <a:solidFill>
            <a:srgbClr val="E5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5650992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74B"/>
                </a:solidFill>
              </a:defRPr>
            </a:pPr>
            <a:r>
              <a:t>The more routine and digital the task, the greater the automation potential.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27432"/>
          </a:xfrm>
          <a:prstGeom prst="rect">
            <a:avLst/>
          </a:prstGeom>
          <a:solidFill>
            <a:srgbClr val="E5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67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Real-World Examples of AI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Customer support: chatbots answer common questions before a human agent is needed.</a:t>
            </a:r>
          </a:p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Retail: self-checkout and computer vision reduce some cashier tasks.</a:t>
            </a:r>
          </a:p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Offices: AI can summarize documents, draft emails and organize information.</a:t>
            </a:r>
          </a:p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Finance: software can classify transactions, check forms and flag unusual activity.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532120"/>
            <a:ext cx="10469880" cy="640080"/>
          </a:xfrm>
          <a:prstGeom prst="roundRect">
            <a:avLst/>
          </a:prstGeom>
          <a:solidFill>
            <a:srgbClr val="E5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5650992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74B"/>
                </a:solidFill>
              </a:defRPr>
            </a:pPr>
            <a:r>
              <a:t>Most current examples combine AI with human supervision.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27432"/>
          </a:xfrm>
          <a:prstGeom prst="rect">
            <a:avLst/>
          </a:prstGeom>
          <a:solidFill>
            <a:srgbClr val="E5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67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New Careers Created by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3262D"/>
                </a:solidFill>
              </a:defRPr>
            </a:pPr>
            <a:r>
              <a:t>• AI / machine-learning engineer</a:t>
            </a:r>
          </a:p>
          <a:p>
            <a:pPr>
              <a:spcAft>
                <a:spcPts val="1500"/>
              </a:spcAft>
              <a:defRPr sz="2000">
                <a:solidFill>
                  <a:srgbClr val="23262D"/>
                </a:solidFill>
              </a:defRPr>
            </a:pPr>
            <a:r>
              <a:t>• AI product manager</a:t>
            </a:r>
          </a:p>
          <a:p>
            <a:pPr>
              <a:spcAft>
                <a:spcPts val="1500"/>
              </a:spcAft>
              <a:defRPr sz="2000">
                <a:solidFill>
                  <a:srgbClr val="23262D"/>
                </a:solidFill>
              </a:defRPr>
            </a:pPr>
            <a:r>
              <a:t>• AI safety, governance and compliance specialist</a:t>
            </a:r>
          </a:p>
          <a:p>
            <a:pPr>
              <a:spcAft>
                <a:spcPts val="1500"/>
              </a:spcAft>
              <a:defRPr sz="2000">
                <a:solidFill>
                  <a:srgbClr val="23262D"/>
                </a:solidFill>
              </a:defRPr>
            </a:pPr>
            <a:r>
              <a:t>• Data and model evaluation specialist</a:t>
            </a:r>
          </a:p>
          <a:p>
            <a:pPr>
              <a:spcAft>
                <a:spcPts val="1500"/>
              </a:spcAft>
              <a:defRPr sz="2000">
                <a:solidFill>
                  <a:srgbClr val="23262D"/>
                </a:solidFill>
              </a:defRPr>
            </a:pPr>
            <a:r>
              <a:t>• AI trainer / human-feedback specialist</a:t>
            </a:r>
          </a:p>
          <a:p>
            <a:pPr>
              <a:spcAft>
                <a:spcPts val="1500"/>
              </a:spcAft>
              <a:defRPr sz="2000">
                <a:solidFill>
                  <a:srgbClr val="23262D"/>
                </a:solidFill>
              </a:defRPr>
            </a:pPr>
            <a:r>
              <a:t>• Automation and AI-integration consultant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532120"/>
            <a:ext cx="10469880" cy="640080"/>
          </a:xfrm>
          <a:prstGeom prst="roundRect">
            <a:avLst/>
          </a:prstGeom>
          <a:solidFill>
            <a:srgbClr val="E5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5650992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74B"/>
                </a:solidFill>
              </a:defRPr>
            </a:pPr>
            <a:r>
              <a:t>AI can remove some tasks while increasing demand for new technical and oversight roles.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27432"/>
          </a:xfrm>
          <a:prstGeom prst="rect">
            <a:avLst/>
          </a:prstGeom>
          <a:solidFill>
            <a:srgbClr val="E5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67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Preparing for the Future of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Learn how to use AI tools rather than competing with them on routine tasks.</a:t>
            </a:r>
          </a:p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Strengthen communication, critical thinking, creativity and problem-solving.</a:t>
            </a:r>
          </a:p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Build digital skills such as data literacy, programming or AI-assisted workflows.</a:t>
            </a:r>
          </a:p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Keep learning as tools and job requirements change.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532120"/>
            <a:ext cx="10469880" cy="640080"/>
          </a:xfrm>
          <a:prstGeom prst="roundRect">
            <a:avLst/>
          </a:prstGeom>
          <a:solidFill>
            <a:srgbClr val="E5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5650992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74B"/>
                </a:solidFill>
              </a:defRPr>
            </a:pPr>
            <a:r>
              <a:t>Adaptability will be one of the most valuable career skills.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27432"/>
          </a:xfrm>
          <a:prstGeom prst="rect">
            <a:avLst/>
          </a:prstGeom>
          <a:solidFill>
            <a:srgbClr val="E5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67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AI is likely to replace some tasks and reduce demand for certain routine jobs.</a:t>
            </a:r>
          </a:p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At the same time, it can create new roles and change existing careers.</a:t>
            </a:r>
          </a:p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The biggest advantage will go to workers who learn to work effectively with AI.</a:t>
            </a:r>
          </a:p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The future of work is likely to be human + AI, not simply human versus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532120"/>
            <a:ext cx="10469880" cy="640080"/>
          </a:xfrm>
          <a:prstGeom prst="roundRect">
            <a:avLst/>
          </a:prstGeom>
          <a:solidFill>
            <a:srgbClr val="E5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5650992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74B"/>
                </a:solidFill>
              </a:defRPr>
            </a:pPr>
            <a:r>
              <a:t>AI will reshape employment — preparation matters.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27432"/>
          </a:xfrm>
          <a:prstGeom prst="rect">
            <a:avLst/>
          </a:prstGeom>
          <a:solidFill>
            <a:srgbClr val="E5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673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3262D"/>
                </a:solidFill>
              </a:defRPr>
            </a:pPr>
            <a:r>
              <a:t>• World Economic Forum — Future of Jobs Report 2025</a:t>
            </a:r>
          </a:p>
          <a:p>
            <a:pPr>
              <a:spcAft>
                <a:spcPts val="1500"/>
              </a:spcAft>
              <a:defRPr sz="2000">
                <a:solidFill>
                  <a:srgbClr val="23262D"/>
                </a:solidFill>
              </a:defRPr>
            </a:pPr>
            <a:r>
              <a:t>• International Labour Organization — Generative AI and Jobs research</a:t>
            </a:r>
          </a:p>
          <a:p>
            <a:pPr>
              <a:spcAft>
                <a:spcPts val="1500"/>
              </a:spcAft>
              <a:defRPr sz="2000">
                <a:solidFill>
                  <a:srgbClr val="23262D"/>
                </a:solidFill>
              </a:defRPr>
            </a:pPr>
            <a:r>
              <a:t>• International Monetary Fund — AI and the Future of Work</a:t>
            </a:r>
          </a:p>
          <a:p>
            <a:pPr>
              <a:spcAft>
                <a:spcPts val="1500"/>
              </a:spcAft>
              <a:defRPr sz="2000">
                <a:solidFill>
                  <a:srgbClr val="23262D"/>
                </a:solidFill>
              </a:defRPr>
            </a:pPr>
            <a:r>
              <a:t>• OECD — Artificial Intelligence and the Labour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10528"/>
            <a:ext cx="10881360" cy="27432"/>
          </a:xfrm>
          <a:prstGeom prst="rect">
            <a:avLst/>
          </a:prstGeom>
          <a:solidFill>
            <a:srgbClr val="E5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673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544</Words>
  <Application>Microsoft Office PowerPoint</Application>
  <PresentationFormat>Widescreen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Aayush Sherchan</cp:lastModifiedBy>
  <cp:revision>2</cp:revision>
  <dcterms:created xsi:type="dcterms:W3CDTF">2013-01-27T09:14:16Z</dcterms:created>
  <dcterms:modified xsi:type="dcterms:W3CDTF">2026-08-11T03:51:50Z</dcterms:modified>
  <cp:category/>
</cp:coreProperties>
</file>